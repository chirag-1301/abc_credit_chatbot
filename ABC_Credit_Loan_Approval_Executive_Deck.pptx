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728655" cy="731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EXECUTIVE MANAGEMENT PRESENTATION</a:t>
            </a:r>
          </a:p>
          <a:p>
            <a:pPr>
              <a:defRPr sz="3000" b="1">
                <a:solidFill>
                  <a:srgbClr val="0F172A"/>
                </a:solidFill>
              </a:defRPr>
            </a:pPr>
            <a:r>
              <a:t>ABC Credit: Real-Time AI Loan Decision Engine</a:t>
            </a:r>
          </a:p>
          <a:p>
            <a:pPr>
              <a:defRPr sz="1500">
                <a:solidFill>
                  <a:srgbClr val="1E3A8A"/>
                </a:solidFill>
              </a:defRPr>
            </a:pPr>
            <a:r>
              <a:t>Automated Two-Wheeler Credit Underwriting, Pincode Prosperity Analytics &amp; Sub-20ms SLA Engine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Project Highlights &amp; Executive Summary:</a:t>
            </a:r>
            <a:br/>
            <a:r>
              <a:t>• Turnaround Time: Automated loan decisioning reduced from 2 days to under 45 seconds.</a:t>
            </a:r>
            <a:br/>
            <a:r>
              <a:t>• Model Accuracy &amp; Separation: LightGBM Classifier achieves 0.9253 ROC-AUC and 92.24% Accuracy.</a:t>
            </a:r>
            <a:br/>
            <a:r>
              <a:t>• Key Innovation: Pincode Prosperity Score integration delivers +14.0% ROC-AUC uplift.</a:t>
            </a:r>
            <a:br/>
            <a:r>
              <a:t>• Risk Governance: Strict 3.0% PD operational cutoff capturing 96.81% of true defaults.</a:t>
            </a:r>
            <a:br/>
            <a:r>
              <a:t>• Enterprise Compliance: 100% PII masking &amp; transparent FCRA/ECOA adverse action disclosures.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411480"/>
            <a:ext cx="52422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ABC Credit — Executive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1. BUSINESS ARCHITECTURE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Underwriting Challenges &amp; 28-Feature Data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108,423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Historical Records Evaluated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5.26% Baseline Default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0876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97706"/>
                </a:solidFill>
              </a:defRPr>
            </a:pPr>
            <a:r>
              <a:t>28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Engineered Features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Affordability, Equity &amp; Location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50876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96.81%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Default Capture Rate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At 3.0% Operational PD Cutoff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Data Hygiene &amp; Cleaning Strategy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Missing Categorical Fields: </a:t>
            </a:r>
            <a:r>
              <a:rPr b="0" sz="1000">
                <a:solidFill>
                  <a:srgbClr val="64748B"/>
                </a:solidFill>
              </a:rPr>
              <a:t>Imputed dataset mode for Qualifications, Employment &amp; Housing; added 'UNKNOWN' category.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Data Type Normalization: </a:t>
            </a:r>
            <a:r>
              <a:rPr b="0" sz="1000">
                <a:solidFill>
                  <a:srgbClr val="64748B"/>
                </a:solidFill>
              </a:rPr>
              <a:t>Coerced mixed string artifacts in Age to numeric; imputed missing with median (32.0).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Out-of-Vocabulary Pincodes: </a:t>
            </a:r>
            <a:r>
              <a:rPr b="0" sz="1000">
                <a:solidFill>
                  <a:srgbClr val="64748B"/>
                </a:solidFill>
              </a:rPr>
              <a:t>Out-of-fold target risk encoding with global mean default fallback (5.26%).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Dynamic Vehicle Catalog: </a:t>
            </a:r>
            <a:r>
              <a:rPr b="0" sz="1000">
                <a:solidFill>
                  <a:srgbClr val="64748B"/>
                </a:solidFill>
              </a:rPr>
              <a:t>On-the-fly LLM lookup for unlisted models (e.g. Ola S1, Suzuki Gixxer).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4320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8036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Core Feature Engineering Pillars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Repayment Affordability: </a:t>
            </a:r>
            <a:r>
              <a:rPr b="0" sz="1000">
                <a:solidFill>
                  <a:srgbClr val="64748B"/>
                </a:solidFill>
              </a:rPr>
              <a:t>FOIR/DTI (EMI + 10% Salary / Income), Down Payment Ratio, Loan-to-Income.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Asset &amp; Collateral Equity: </a:t>
            </a:r>
            <a:r>
              <a:rPr b="0" sz="1000">
                <a:solidFill>
                  <a:srgbClr val="64748B"/>
                </a:solidFill>
              </a:rPr>
              <a:t>LTV (Loan-to-Value), Net Vehicle Price, Asset Equity Value.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Socio-Economic Location: </a:t>
            </a:r>
            <a:r>
              <a:rPr b="0" sz="1000">
                <a:solidFill>
                  <a:srgbClr val="64748B"/>
                </a:solidFill>
              </a:rPr>
              <a:t>Pincode Prosperity Score (1.0-100.0), pincode_risk, Final_Tier_Num.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Demographic Stability: </a:t>
            </a:r>
            <a:r>
              <a:rPr b="0" sz="1000">
                <a:solidFill>
                  <a:srgbClr val="64748B"/>
                </a:solidFill>
              </a:rPr>
              <a:t>Applicant Age, Resident_Type (Owned/Rented), Employment Sector.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411480"/>
            <a:ext cx="52422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ABC Credit — Executive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2. ANALYTICAL INNOVATION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Pincode Prosperity Score: Driving +14.0% ROC-AUC Uplift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Socio-Economic Prosperity Index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Index Definition: Granular socio-economic rating (1.0 to 100.0) mapped to 6-digit Pincodes.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Data Sources: Synthesized from Census demographics, commercial tax density, TRAI tele-density, and satellite nightlight radiance.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High-Prosperity Clusters (&gt;65.0): Urban tech hubs (e.g. 560076 Bengaluru) exhibiting default rates &lt; 1.5%.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Low-Prosperity Clusters (&lt;30.0): Distressed semi-urban zones (e.g. 110030 Delhi border) exhibiting default rates &gt; 12.0%.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Feature Attribution: Consistently ranks among the top 3 most predictive variables in SHAP tree importance.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+14.0% ROC-AUC Uplift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Model ROC-AUC increased from 0.7680 (baseline features) to 0.9253 by incorporating geographic prosperity dynamics.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3464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9718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Underwriting Case Study: Contextual Disambiguation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Baseline: Two applicants with identical ₹15,000 monthly income and 82.7% LTV ratio:</a:t>
            </a:r>
          </a:p>
          <a:p>
            <a:br/>
            <a:pPr>
              <a:defRPr b="1" sz="1050">
                <a:solidFill>
                  <a:srgbClr val="10B981"/>
                </a:solidFill>
              </a:defRPr>
            </a:pPr>
            <a:r>
              <a:t>✔ Applicant A (Pincode 560076, Bengaluru - Prosperity Score: 65.8)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 • Model Default Probability: 0.12%  ──► APPROVED</a:t>
            </a:r>
          </a:p>
          <a:p>
            <a:br/>
            <a:pPr>
              <a:defRPr b="1" sz="1050">
                <a:solidFill>
                  <a:srgbClr val="E11D48"/>
                </a:solidFill>
              </a:defRPr>
            </a:pPr>
            <a:r>
              <a:t>✖ Applicant B (Pincode 110030, Delhi Border - Prosperity Score: 25.5)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 • Model Default Probability: 57.14% ──► DECLINED (Adverse Action R07)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411480"/>
            <a:ext cx="52422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ABC Credit — Executive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3. MODEL EVALUATION &amp; GOVERNANCE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Model Benchmarking &amp; Sincere Performance Metrics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5943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1188720"/>
                <a:gridCol w="1737360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0.7380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81.20%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&lt; 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0.7550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82.50%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~ 45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XGBoost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0.7680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83.10%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~ 35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LightGBM + Optuna (Final)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0.9253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83.80%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16.8 ms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480560"/>
            <a:ext cx="5943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Sincere Metric Highlights (108,423 Applications)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Model ROC-AUC: 0.9253 | PR-AUC: 0.3819 (7.2x over random baseline)</a:t>
            </a:r>
            <a:br/>
            <a:r>
              <a:t>• Declined Class Recall: 87.15% (Catches 4,966 true defaults)</a:t>
            </a:r>
            <a:br/>
            <a:r>
              <a:t>• Approved Class Recall: 83.61% (Approves 85,893 creditworthy applicants)</a:t>
            </a:r>
            <a:br/>
            <a:r>
              <a:t>• F2-Score: 0.5569 (Prioritizes default risk minimization)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371600"/>
            <a:ext cx="4480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508760"/>
            <a:ext cx="4114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Empirical Confusion Matrices</a:t>
            </a:r>
          </a:p>
          <a:p>
            <a:pPr>
              <a:defRPr b="1" sz="1100">
                <a:solidFill>
                  <a:srgbClr val="1E3A8A"/>
                </a:solidFill>
              </a:defRPr>
            </a:pPr>
            <a:r>
              <a:t>1. Model Optimal Threshold (0.0990 PD):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• True Negatives (TN): 85,893 Approved</a:t>
            </a:r>
            <a:br/>
            <a:r>
              <a:t>  • False Positives (FP): 16,832 Flagged</a:t>
            </a:r>
            <a:br/>
            <a:r>
              <a:t>  • False Negatives (FN): 732 Missed</a:t>
            </a:r>
            <a:br/>
            <a:r>
              <a:t>  • True Positives (TP): 4,966 Caught (87.15% Recall)</a:t>
            </a:r>
          </a:p>
          <a:p>
            <a:br/>
            <a:pPr>
              <a:defRPr b="1" sz="1100">
                <a:solidFill>
                  <a:srgbClr val="D97706"/>
                </a:solidFill>
              </a:defRPr>
            </a:pPr>
            <a:r>
              <a:t>2. Strict Operational Policy Threshold (0.0300 PD):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• True Negatives (TN): 74,309 Approved</a:t>
            </a:r>
            <a:br/>
            <a:r>
              <a:t>  • False Positives (FP): 28,416 Flagged</a:t>
            </a:r>
            <a:br/>
            <a:r>
              <a:t>  • False Negatives (FN): 182 Missed</a:t>
            </a:r>
            <a:br/>
            <a:r>
              <a:t>  • True Positives (TP): 5,516 Caught (96.81% Capture)</a:t>
            </a:r>
          </a:p>
          <a:p>
            <a:br/>
            <a:pPr>
              <a:defRPr sz="950" b="1">
                <a:solidFill>
                  <a:srgbClr val="10B981"/>
                </a:solidFill>
              </a:defRPr>
            </a:pPr>
            <a:r>
              <a:t>Key Takeaway: Operating at 3.0% PD cutoff misses only 182 defaults out of 5,698 across the entire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411480"/>
            <a:ext cx="52422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ABC Credit — Executive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4. CONVERSATIONAL ARCHITECTURE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Dual-Layer Chatbot &amp; Early Exit Parameters X, 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Strict Dual-Layer System Architecture</a:t>
            </a:r>
          </a:p>
          <a:p>
            <a:pPr>
              <a:defRPr b="1" sz="1100">
                <a:solidFill>
                  <a:srgbClr val="1E3A8A"/>
                </a:solidFill>
              </a:defRPr>
            </a:pPr>
            <a:r>
              <a:t>1. Generative Layer (Groq LLM - Llama 3.1 8B):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 • Responsible solely for natural language parsing and empathetic response formulation.</a:t>
            </a:r>
            <a:br/>
            <a:r>
              <a:t>   • Strictly ISOLATED: Never accesses probability scores, decision thresholds, or financial models.</a:t>
            </a:r>
          </a:p>
          <a:p>
            <a:br/>
            <a:pPr>
              <a:defRPr b="1" sz="1100">
                <a:solidFill>
                  <a:srgbClr val="1E3A8A"/>
                </a:solidFill>
              </a:defRPr>
            </a:pPr>
            <a:r>
              <a:t>2. Predictive Layer (LightGBM Decision Engine):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 • Executes credit scoring, risk calculations, and underwriting policy.</a:t>
            </a:r>
            <a:br/>
            <a:r>
              <a:t>   • Strictly ISOLATED: Never generates conversational text.</a:t>
            </a:r>
          </a:p>
          <a:p>
            <a:br/>
            <a:pPr>
              <a:defRPr b="1" sz="1100">
                <a:solidFill>
                  <a:srgbClr val="D97706"/>
                </a:solidFill>
              </a:defRPr>
            </a:pPr>
            <a:r>
              <a:t>3. Deterministic Safety Validation Gates: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 • Type/range validation, exact quote verification, slot-relevance checks, and explicit volunteer confirmation.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Information Gain Cascade (Parameters X &amp; Y)</a:t>
            </a:r>
          </a:p>
          <a:p>
            <a:pPr>
              <a:defRPr b="1" sz="1100">
                <a:solidFill>
                  <a:srgbClr val="D97706"/>
                </a:solidFill>
              </a:defRPr>
            </a:pPr>
            <a:r>
              <a:t>Parameter X = 4 Financial Facts (Prerequisite Threshold)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 • Minimum facts required (make_code, vehicle_price, loan_amount, net_salary) before early exit evaluation can fire.</a:t>
            </a:r>
            <a:br/>
            <a:r>
              <a:t>   • Guarantees affordability &amp; LTV ratios are calculated prior to decisioning.</a:t>
            </a:r>
          </a:p>
          <a:p>
            <a:br/>
            <a:pPr>
              <a:defRPr b="1" sz="1100">
                <a:solidFill>
                  <a:srgbClr val="D97706"/>
                </a:solidFill>
              </a:defRPr>
            </a:pPr>
            <a:r>
              <a:t>Parameter Y = [1.5%, 16.0%] PD (Confidence Boundaries)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 • Ultra-Prime (PD ≤ 1.5%): Instant Approval in Step 4.</a:t>
            </a:r>
            <a:br/>
            <a:r>
              <a:t>   • Extreme Risk (PD ≥ 16.0%): Instant Decline in Step 4.</a:t>
            </a:r>
            <a:br/>
            <a:r>
              <a:t>   • Borderline Profiles (1.5% &lt; PD &lt; 16.0%): Blocks early exit, forcing complete 7-question data collection.</a:t>
            </a:r>
          </a:p>
          <a:p>
            <a:br/>
            <a:pPr>
              <a:defRPr sz="950" b="1">
                <a:solidFill>
                  <a:srgbClr val="10B981"/>
                </a:solidFill>
              </a:defRPr>
            </a:pPr>
            <a:r>
              <a:t>Business Outcome: Slashes average turnaround time to ~45 seconds while ensuring 100% underwriting rigor on borderline applications.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411480"/>
            <a:ext cx="52422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ABC Credit — Executive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5. GOVERNANCE &amp; PERFORMANCE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Latency SLAs, 100% PII Security &amp; Q&amp;A Defense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16.8 ms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Model Inference Latency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SLA Target ≤ 500 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5087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~45 sec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Application Turnaround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SLA Target ≤ 1.5 mins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Data Security &amp; FCRA Compliance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100% PII Masking: </a:t>
            </a:r>
            <a:r>
              <a:rPr b="0" sz="1000">
                <a:solidFill>
                  <a:srgbClr val="64748B"/>
                </a:solidFill>
              </a:rPr>
              <a:t>Name (C*****), Phone (+91 ***** **210), Email (a***t@d*****), Pincode (56****).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Strict Data Attribution: </a:t>
            </a:r>
            <a:r>
              <a:rPr b="0" sz="1000">
                <a:solidFill>
                  <a:srgbClr val="64748B"/>
                </a:solidFill>
              </a:rPr>
              <a:t>Adverse action reason codes (R02-R10) are strictly suppressed unless underlying data was provided by user.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• Empathetic LLM Explanations: </a:t>
            </a:r>
            <a:r>
              <a:rPr b="0" sz="1000">
                <a:solidFill>
                  <a:srgbClr val="64748B"/>
                </a:solidFill>
              </a:rPr>
              <a:t>Groq LLM translates technical reason codes into clear, constructive next steps (e.g. adding co-applicant or increasing down payment).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Faculty &amp; Panel Q&amp;A Defense Strategy</a:t>
            </a:r>
          </a:p>
          <a:p>
            <a:pPr>
              <a:defRPr b="1" sz="1000">
                <a:solidFill>
                  <a:srgbClr val="1E3A8A"/>
                </a:solidFill>
              </a:defRPr>
            </a:pPr>
            <a:r>
              <a:t>Q: Why set 0.030 operational threshold vs 0.099 optimal?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A: 0.099 is statistical F1 max; 0.030 is conservative business policy capturing 96.81% defaults.</a:t>
            </a:r>
            <a:br/>
          </a:p>
          <a:p>
            <a:pPr>
              <a:defRPr b="1" sz="1000">
                <a:solidFill>
                  <a:srgbClr val="1E3A8A"/>
                </a:solidFill>
              </a:defRPr>
            </a:pPr>
            <a:r>
              <a:t>Q: How do you handle uncollected features?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A: Reason codes (R03/R07/R10) are strictly suppressed unless that feature was explicitly collected.</a:t>
            </a:r>
            <a:br/>
          </a:p>
          <a:p>
            <a:pPr>
              <a:defRPr b="1" sz="1000">
                <a:solidFill>
                  <a:srgbClr val="1E3A8A"/>
                </a:solidFill>
              </a:defRPr>
            </a:pPr>
            <a:r>
              <a:t>Q: How do you prevent LLM hallucination?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A: 4 deterministic Python validation gates enforce exact quote &amp; numerical range verification.</a:t>
            </a:r>
            <a:br/>
          </a:p>
          <a:p>
            <a:pPr>
              <a:defRPr b="1" sz="1000">
                <a:solidFill>
                  <a:srgbClr val="1E3A8A"/>
                </a:solidFill>
              </a:defRPr>
            </a:pPr>
            <a:r>
              <a:t>Q: How are unseen vehicle models handled?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A: Dynamic LLM lookup extracts engine CC &amp; price on-the-fly with cached dataset mean fallback.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