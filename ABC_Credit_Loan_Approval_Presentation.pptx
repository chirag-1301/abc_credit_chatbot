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3137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ABC CREDIT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Instant AI Loan Decision Engine &amp; Chatbot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Real-Time ML Underwriting (0.9253 ROC-AUC) • Sub-20ms Inference SLA • 100% PII Security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Key Highlights:</a:t>
            </a:r>
            <a:br/>
            <a:r>
              <a:t>• Automated two-wheeler loan pre-approvals in &lt; 45 seconds</a:t>
            </a:r>
            <a:br/>
            <a:r>
              <a:t>• LightGBM + Optuna Bayesian Hyperparameter Tuning &amp; Isotonic Probability Calibration</a:t>
            </a:r>
            <a:br/>
            <a:r>
              <a:t>• Pincode Prosperity Score integration (+14.0% ROC-AUC uplift)</a:t>
            </a:r>
            <a:br/>
            <a:r>
              <a:t>• Groq LLM (Llama-3.1-8b) conversational assistant with data-attributed adverse action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ENGINEERING &amp;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Dataset Processing &amp; 28-Feature Selection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Data Quality &amp; Preprocessing (108,423 Records)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Missing Categorical Imputation: </a:t>
            </a:r>
            <a:r>
              <a:rPr b="0" sz="1000">
                <a:solidFill>
                  <a:srgbClr val="94A3B8"/>
                </a:solidFill>
              </a:rPr>
              <a:t>Imputed mode for Qualifications, Employment &amp; Housing; assigned 'UNKNOWN' flag.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Age Data Type Normalization: </a:t>
            </a:r>
            <a:r>
              <a:rPr b="0" sz="1000">
                <a:solidFill>
                  <a:srgbClr val="94A3B8"/>
                </a:solidFill>
              </a:rPr>
              <a:t>Coerced mixed string artifacts to numeric; imputed missing ages with median (32.0).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Out-of-Vocabulary Pincodes: </a:t>
            </a:r>
            <a:r>
              <a:rPr b="0" sz="1000">
                <a:solidFill>
                  <a:srgbClr val="94A3B8"/>
                </a:solidFill>
              </a:rPr>
              <a:t>Out-of-fold target risk encoding with global mean default fallback (5.26%).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Dynamic Vehicle Catalogue: </a:t>
            </a:r>
            <a:r>
              <a:rPr b="0" sz="1000">
                <a:solidFill>
                  <a:srgbClr val="94A3B8"/>
                </a:solidFill>
              </a:rPr>
              <a:t>On-the-fly Groq LLM lookup for unseen vehicles (e.g. Ola S1, Suzuki Gixxer).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Class Imbalance Handling: </a:t>
            </a:r>
            <a:r>
              <a:rPr b="0" sz="1000">
                <a:solidFill>
                  <a:srgbClr val="94A3B8"/>
                </a:solidFill>
              </a:rPr>
              <a:t>Balanced 5.26% default rate using scale_pos_weight and PR-AUC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Feature Engineering Pillars (28 Total Features)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Affordability Ratios: </a:t>
            </a:r>
            <a:r>
              <a:rPr b="0" sz="1000">
                <a:solidFill>
                  <a:srgbClr val="94A3B8"/>
                </a:solidFill>
              </a:rPr>
              <a:t>FOIR/DTI (EMI + 10% Salary / Income), Down Payment Ratio, Loan-to-Income.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Collateral &amp; Equity: </a:t>
            </a:r>
            <a:r>
              <a:rPr b="0" sz="1000">
                <a:solidFill>
                  <a:srgbClr val="94A3B8"/>
                </a:solidFill>
              </a:rPr>
              <a:t>LTV (Loan-to-Value), Net Vehicle Price, Asset Equity Value.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Regional &amp; Socio-Economic: </a:t>
            </a:r>
            <a:r>
              <a:rPr b="0" sz="1000">
                <a:solidFill>
                  <a:srgbClr val="94A3B8"/>
                </a:solidFill>
              </a:rPr>
              <a:t>Pincode Prosperity Score (1.0-100.0), pincode_risk, Final_Tier_Num.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Demographic Stability: </a:t>
            </a:r>
            <a:r>
              <a:rPr b="0" sz="1000">
                <a:solidFill>
                  <a:srgbClr val="94A3B8"/>
                </a:solidFill>
              </a:rPr>
              <a:t>Applicant Age, Resident_Type (Owned/Rented), Employment_Type (8 buckets).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Asset Specification: </a:t>
            </a:r>
            <a:r>
              <a:rPr b="0" sz="1000">
                <a:solidFill>
                  <a:srgbClr val="94A3B8"/>
                </a:solidFill>
              </a:rPr>
              <a:t>Engine_CC, Make_Code, Engine_Vs_Prosperity interaction feature.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INNOVATION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Pincode Prosperity Score &amp; +14.0% ROC-AUC Uplift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What is the Prosperity Score?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Granular socio-economic index (1.0 to 100.0) mapped to 6-digit Pincodes.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Derived from Census demographics, tax assessment density, TRAI tele-density, and nightlight radiance.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High Prosperity (&gt;65.0): Metro tech hubs (e.g. 560076 Bengaluru) with default rates &lt; 1.5%.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Low Prosperity (&lt;30.0): Distressed semi-urban pockets (e.g. 110030 Delhi border) with default rates &gt; 12.0%.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Ranks in top 3 SHAP feature importance variables across all decision trees.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Quantified Impact &amp; Disambiguation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ROC-AUC Uplift: 0.7680 ──► 0.9253 (+14.0% Boost)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Real-World Applicant Disambiguation Case Study:</a:t>
            </a:r>
            <a:br/>
            <a:r>
              <a:t>Two applicants with identical ₹15,000 salary &amp; 82.7% LTV:</a:t>
            </a:r>
          </a:p>
          <a:p>
            <a:br/>
            <a:pPr>
              <a:defRPr sz="1100">
                <a:solidFill>
                  <a:srgbClr val="10B981"/>
                </a:solidFill>
              </a:defRPr>
            </a:pPr>
            <a:r>
              <a:t>• Applicant A (Pincode 560076, Prosperity 65.8):</a:t>
            </a:r>
            <a:br/>
            <a:r>
              <a:t>  Predicted Default Risk: 0.12% ──► APPROVED ✅</a:t>
            </a:r>
          </a:p>
          <a:p>
            <a:br/>
            <a:pPr>
              <a:defRPr sz="1100">
                <a:solidFill>
                  <a:srgbClr val="EF4444"/>
                </a:solidFill>
              </a:defRPr>
            </a:pPr>
            <a:r>
              <a:t>• Applicant B (Pincode 110030, Prosperity 25.5):</a:t>
            </a:r>
            <a:br/>
            <a:r>
              <a:t>  Predicted Default Risk: 57.14% ──► DECLINED ❌ (Reason R07)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MODEL EVALUATION &amp; BENCHMARKS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Metrics &amp; Dual Threshold Confusion Matrices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Model Benchmarking &amp; Sincere Metrics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Logistic Regression: 0.7380 AUC (High bias baseline)</a:t>
            </a:r>
            <a:br/>
            <a:r>
              <a:t>• Random Forest: 0.7550 AUC (Slower inference ~45ms)</a:t>
            </a:r>
            <a:br/>
            <a:r>
              <a:t>• XGBoost: 0.7680 AUC (Required complex encoding)</a:t>
            </a:r>
            <a:br/>
            <a:r>
              <a:t>• LightGBM + Optuna (Chosen): 0.9253 ROC-AUC | 83.80% Acc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Detailed Metrics (at 0.0990 Threshold):</a:t>
            </a:r>
            <a:br/>
            <a:r>
              <a:t>• Declined Class Recall: 87.15% (Catches 4,966 defaults)</a:t>
            </a:r>
            <a:br/>
            <a:r>
              <a:t>• Approved Class Recall: 83.61% (Approves 85,893 good applicants)</a:t>
            </a:r>
            <a:br/>
            <a:r>
              <a:t>• PR-AUC Score: 0.3819 (7.2x lift over 0.0526 baseline)</a:t>
            </a:r>
            <a:br/>
            <a:r>
              <a:t>• F2-Score: 0.5569 (Prioritizes risk mitigation)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Empirical Confusion Matrices (108,423 Total Apps)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1. Model Statistical Optimal Threshold (0.0990):</a:t>
            </a:r>
            <a:br/>
            <a:r>
              <a:t>┌─────────────────────┬───────────────────┐</a:t>
            </a:r>
            <a:br/>
            <a:r>
              <a:t>│ TN: 85,893 Approved │ FP: 16,832 Flagged│</a:t>
            </a:r>
            <a:br/>
            <a:r>
              <a:t>├─────────────────────┼───────────────────┤</a:t>
            </a:r>
            <a:br/>
            <a:r>
              <a:t>│ FN:   732 Missed    │ TP:  4,966 Caught │</a:t>
            </a:r>
            <a:br/>
            <a:r>
              <a:t>└─────────────────────┴───────────────────┘</a:t>
            </a:r>
          </a:p>
          <a:p>
            <a:br/>
            <a:pPr>
              <a:defRPr sz="1000">
                <a:solidFill>
                  <a:srgbClr val="10B981"/>
                </a:solidFill>
              </a:defRPr>
            </a:pPr>
            <a:r>
              <a:t>2. Strict Operational Risk Cutoff (0.0300 PD):</a:t>
            </a:r>
            <a:br/>
            <a:r>
              <a:t>┌─────────────────────┬───────────────────┐</a:t>
            </a:r>
            <a:br/>
            <a:r>
              <a:t>│ TN: 74,309 Approved │ FP: 28,416 Flagged│</a:t>
            </a:r>
            <a:br/>
            <a:r>
              <a:t>├─────────────────────┼───────────────────┤</a:t>
            </a:r>
            <a:br/>
            <a:r>
              <a:t>│ FN:   182 Missed    │ TP:  5,516 Caught │</a:t>
            </a:r>
            <a:br/>
            <a:r>
              <a:t>└─────────────────────┴───────────────────┘</a:t>
            </a:r>
            <a:br/>
            <a:r>
              <a:t>• 96.81% Default Capture Rate (Only 182 defaults missed)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CONVERSATIONAL AI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Information Gain Cascade &amp; Early Exit Parameters X, 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Strict Dual-Layer Architecture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Generative Layer (Groq LLM Llama-3.1-8b):</a:t>
            </a:r>
            <a:br/>
            <a:r>
              <a:t>  Handles natural language understanding &amp; empathetic response generation. NEVER sees model probabilities, scores, or thresholds.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Predictive Layer (LightGBM Engine):</a:t>
            </a:r>
            <a:br/>
            <a:r>
              <a:t>  Calculates risk probabilities and executes underwriting logic. NEVER generates conversational text.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4 Deterministic Safety Gates:</a:t>
            </a:r>
            <a:br/>
            <a:r>
              <a:t>  Type/range validation, exact quote validation, slot-relevance check, and explicit volunteer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Information Gain Cascade (Parameters X &amp; Y)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Parameter X = 4 Facts:</a:t>
            </a:r>
            <a:br/>
            <a:r>
              <a:t>  Minimum facts required (vehicle, price, loan, salary) before early exit evaluation can fire.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Parameter Y = [1.5%, 16.0%] PD Bounds:</a:t>
            </a:r>
            <a:br/>
            <a:r>
              <a:t>  - Ultra-Prime (PD &lt;= 1.5%): Instant Approval in Step 4.</a:t>
            </a:r>
            <a:br/>
            <a:r>
              <a:t>  - Extreme Risk (PD &gt;= 16.0%): Instant Decline in Step 4.</a:t>
            </a:r>
            <a:br/>
            <a:r>
              <a:t>  - Borderline (1.5% &lt; PD &lt; 16.0%): Blocks early exit, forcing complete 7-step data 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PERFORMANCE, COMPLIANCE &amp; Q&amp;A STRATEGY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Sub-20ms Latency SLAs, PII Security &amp; Q&amp;A Preparedness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SLA Turnaround &amp; Security Standards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End-to-End Application SLA: ~45 seconds (Target &lt;= 1.5 mins).</a:t>
            </a:r>
            <a:br/>
            <a:r>
              <a:t>• Model Inference Latency: 16.8 ms (Target &lt;= 500 ms).</a:t>
            </a:r>
            <a:br/>
            <a:r>
              <a:t>• NLU Extraction Latency: ~0.6 sec via Groq Llama-3.1-8b.</a:t>
            </a:r>
          </a:p>
          <a:p>
            <a:br/>
            <a:pPr>
              <a:defRPr sz="1100">
                <a:solidFill>
                  <a:srgbClr val="10B981"/>
                </a:solidFill>
              </a:defRPr>
            </a:pPr>
            <a:r>
              <a:t>• 100% PII Security &amp; Masking:</a:t>
            </a:r>
            <a:br/>
            <a:r>
              <a:t>  Name (C*****), Phone (+91 ***** **210), Email (a***t@d*****), Pincode (56****).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FCRA/ECOA Adverse Action Compliance:</a:t>
            </a:r>
            <a:br/>
            <a:r>
              <a:t>  Reason codes (R02-R10) strictly restricted to user-provided data; Groq translates codes into empathetic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3-Minute Panel Q&amp;A Defense Strategy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Why 0.030 threshold vs 0.099 optimal?</a:t>
            </a:r>
            <a:br/>
            <a:r>
              <a:rPr b="0" sz="950">
                <a:solidFill>
                  <a:srgbClr val="94A3B8"/>
                </a:solidFill>
              </a:rPr>
              <a:t>  A: 0.099 is statistical F1 max; 0.030 is conservative business policy (captures 96.81% defaults).
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How do you handle uncollected features?</a:t>
            </a:r>
            <a:br/>
            <a:r>
              <a:rPr b="0" sz="950">
                <a:solidFill>
                  <a:srgbClr val="94A3B8"/>
                </a:solidFill>
              </a:rPr>
              <a:t>  A: Reason codes (R03/R07/R10) are strictly suppressed unless that feature was collected.
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What if LLM hallucinates?</a:t>
            </a:r>
            <a:br/>
            <a:r>
              <a:rPr b="0" sz="950">
                <a:solidFill>
                  <a:srgbClr val="94A3B8"/>
                </a:solidFill>
              </a:rPr>
              <a:t>  A: 4 deterministic python validation gates enforce strict quotes and numerical range boundaries.
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Q: How are unseen vehicles handled?</a:t>
            </a:r>
            <a:br/>
            <a:r>
              <a:rPr b="0" sz="950">
                <a:solidFill>
                  <a:srgbClr val="94A3B8"/>
                </a:solidFill>
              </a:rPr>
              <a:t>  A: Dynamic Groq LLM lookup extracts engine CC &amp; price on-the-fly with cached fallback.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